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Berlin Sans FB" panose="020E0602020502020306" pitchFamily="34" charset="0"/>
      <p:regular r:id="rId11"/>
      <p:bold r:id="rId12"/>
    </p:embeddedFont>
    <p:embeddedFont>
      <p:font typeface="Poppins" panose="00000500000000000000" pitchFamily="2" charset="0"/>
      <p:regular r:id="rId13"/>
    </p:embeddedFont>
    <p:embeddedFont>
      <p:font typeface="Poppins Bold" panose="00000800000000000000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53DCBE-4DA1-47D4-9BAF-B1B3EF025D6E}" v="17" dt="2025-11-30T02:47:43.5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tiprachurya17@gmail.com" userId="b7dd9ee70931a6ba" providerId="LiveId" clId="{147B71CF-448B-49B5-8205-7739D9A60356}"/>
    <pc:docChg chg="undo custSel modSld">
      <pc:chgData name="pritiprachurya17@gmail.com" userId="b7dd9ee70931a6ba" providerId="LiveId" clId="{147B71CF-448B-49B5-8205-7739D9A60356}" dt="2025-11-30T02:48:42.812" v="106" actId="14100"/>
      <pc:docMkLst>
        <pc:docMk/>
      </pc:docMkLst>
      <pc:sldChg chg="modSp mod">
        <pc:chgData name="pritiprachurya17@gmail.com" userId="b7dd9ee70931a6ba" providerId="LiveId" clId="{147B71CF-448B-49B5-8205-7739D9A60356}" dt="2025-11-30T02:35:31.961" v="15" actId="255"/>
        <pc:sldMkLst>
          <pc:docMk/>
          <pc:sldMk cId="0" sldId="256"/>
        </pc:sldMkLst>
        <pc:spChg chg="mod">
          <ac:chgData name="pritiprachurya17@gmail.com" userId="b7dd9ee70931a6ba" providerId="LiveId" clId="{147B71CF-448B-49B5-8205-7739D9A60356}" dt="2025-11-30T02:35:31.961" v="15" actId="255"/>
          <ac:spMkLst>
            <pc:docMk/>
            <pc:sldMk cId="0" sldId="256"/>
            <ac:spMk id="13" creationId="{00000000-0000-0000-0000-000000000000}"/>
          </ac:spMkLst>
        </pc:spChg>
      </pc:sldChg>
      <pc:sldChg chg="modSp mod">
        <pc:chgData name="pritiprachurya17@gmail.com" userId="b7dd9ee70931a6ba" providerId="LiveId" clId="{147B71CF-448B-49B5-8205-7739D9A60356}" dt="2025-11-30T02:40:01.469" v="70" actId="12"/>
        <pc:sldMkLst>
          <pc:docMk/>
          <pc:sldMk cId="0" sldId="258"/>
        </pc:sldMkLst>
        <pc:spChg chg="mod">
          <ac:chgData name="pritiprachurya17@gmail.com" userId="b7dd9ee70931a6ba" providerId="LiveId" clId="{147B71CF-448B-49B5-8205-7739D9A60356}" dt="2025-11-30T02:40:01.469" v="70" actId="12"/>
          <ac:spMkLst>
            <pc:docMk/>
            <pc:sldMk cId="0" sldId="258"/>
            <ac:spMk id="8" creationId="{00000000-0000-0000-0000-000000000000}"/>
          </ac:spMkLst>
        </pc:spChg>
        <pc:grpChg chg="mod">
          <ac:chgData name="pritiprachurya17@gmail.com" userId="b7dd9ee70931a6ba" providerId="LiveId" clId="{147B71CF-448B-49B5-8205-7739D9A60356}" dt="2025-11-30T02:39:13.879" v="63" actId="14100"/>
          <ac:grpSpMkLst>
            <pc:docMk/>
            <pc:sldMk cId="0" sldId="258"/>
            <ac:grpSpMk id="5" creationId="{00000000-0000-0000-0000-000000000000}"/>
          </ac:grpSpMkLst>
        </pc:grpChg>
      </pc:sldChg>
      <pc:sldChg chg="addSp modSp mod">
        <pc:chgData name="pritiprachurya17@gmail.com" userId="b7dd9ee70931a6ba" providerId="LiveId" clId="{147B71CF-448B-49B5-8205-7739D9A60356}" dt="2025-11-30T02:48:42.812" v="106" actId="14100"/>
        <pc:sldMkLst>
          <pc:docMk/>
          <pc:sldMk cId="0" sldId="263"/>
        </pc:sldMkLst>
        <pc:spChg chg="add mod">
          <ac:chgData name="pritiprachurya17@gmail.com" userId="b7dd9ee70931a6ba" providerId="LiveId" clId="{147B71CF-448B-49B5-8205-7739D9A60356}" dt="2025-11-30T02:48:42.812" v="106" actId="14100"/>
          <ac:spMkLst>
            <pc:docMk/>
            <pc:sldMk cId="0" sldId="263"/>
            <ac:spMk id="9" creationId="{116A1904-4A43-09F4-F317-35D44B4545C0}"/>
          </ac:spMkLst>
        </pc:spChg>
        <pc:spChg chg="add">
          <ac:chgData name="pritiprachurya17@gmail.com" userId="b7dd9ee70931a6ba" providerId="LiveId" clId="{147B71CF-448B-49B5-8205-7739D9A60356}" dt="2025-11-30T02:46:55.021" v="93"/>
          <ac:spMkLst>
            <pc:docMk/>
            <pc:sldMk cId="0" sldId="263"/>
            <ac:spMk id="10" creationId="{E48D1A3E-7A40-49E4-DC9F-9FC315038322}"/>
          </ac:spMkLst>
        </pc:spChg>
        <pc:spChg chg="add">
          <ac:chgData name="pritiprachurya17@gmail.com" userId="b7dd9ee70931a6ba" providerId="LiveId" clId="{147B71CF-448B-49B5-8205-7739D9A60356}" dt="2025-11-30T02:47:00.611" v="94"/>
          <ac:spMkLst>
            <pc:docMk/>
            <pc:sldMk cId="0" sldId="263"/>
            <ac:spMk id="11" creationId="{E4B5A8A3-80D7-FF34-E59B-89E210C2204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16661-D797-424B-90B2-E872082E58A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58EA9B-E449-41D0-A552-CC6318C506D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Users can’t reliably detect new or zero-day malicious sites.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58EA9B-E449-41D0-A552-CC6318C506D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421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B59E5-EEF9-434D-AF72-28B70A04996C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6AB88-939A-4B1D-BBC2-B2DC6DAC79E8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4444C-9240-45B9-8F7A-CEC5673D3A03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C338F-8E5D-48E5-8F86-C4B326543B6E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B8FA3-7CEE-4DF4-B07B-CB17D8BE2137}" type="datetime1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F305-5E16-482D-889D-7C36F87B0800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 3"/>
          <p:cNvSpPr/>
          <p:nvPr userDrawn="1"/>
        </p:nvSpPr>
        <p:spPr>
          <a:xfrm>
            <a:off x="0" y="13400"/>
            <a:ext cx="18288000" cy="10260200"/>
          </a:xfrm>
          <a:custGeom>
            <a:avLst/>
            <a:gdLst/>
            <a:ahLst/>
            <a:cxnLst/>
            <a:rect l="l" t="t" r="r" b="b"/>
            <a:pathLst>
              <a:path w="18288000" h="10260200">
                <a:moveTo>
                  <a:pt x="0" y="0"/>
                </a:moveTo>
                <a:lnTo>
                  <a:pt x="18288000" y="0"/>
                </a:lnTo>
                <a:lnTo>
                  <a:pt x="18288000" y="10260200"/>
                </a:lnTo>
                <a:lnTo>
                  <a:pt x="0" y="10260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</a:blip>
            <a:stretch>
              <a:fillRect t="-108093" b="-108781"/>
            </a:stretch>
          </a:blipFill>
        </p:spPr>
      </p:sp>
      <p:grpSp>
        <p:nvGrpSpPr>
          <p:cNvPr id="7" name="Group 15"/>
          <p:cNvGrpSpPr/>
          <p:nvPr userDrawn="1"/>
        </p:nvGrpSpPr>
        <p:grpSpPr>
          <a:xfrm>
            <a:off x="15117644" y="26800"/>
            <a:ext cx="3170356" cy="1250482"/>
            <a:chOff x="0" y="0"/>
            <a:chExt cx="3894896" cy="1536262"/>
          </a:xfrm>
        </p:grpSpPr>
        <p:sp>
          <p:nvSpPr>
            <p:cNvPr id="8" name="Freeform 16"/>
            <p:cNvSpPr/>
            <p:nvPr/>
          </p:nvSpPr>
          <p:spPr>
            <a:xfrm>
              <a:off x="0" y="0"/>
              <a:ext cx="3894836" cy="1536319"/>
            </a:xfrm>
            <a:custGeom>
              <a:avLst/>
              <a:gdLst/>
              <a:ahLst/>
              <a:cxnLst/>
              <a:rect l="l" t="t" r="r" b="b"/>
              <a:pathLst>
                <a:path w="3894836" h="1536319">
                  <a:moveTo>
                    <a:pt x="0" y="0"/>
                  </a:moveTo>
                  <a:lnTo>
                    <a:pt x="3894836" y="0"/>
                  </a:lnTo>
                  <a:lnTo>
                    <a:pt x="3894836" y="1536319"/>
                  </a:lnTo>
                  <a:lnTo>
                    <a:pt x="0" y="1536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print"/>
              <a:stretch>
                <a:fillRect r="-1" b="3"/>
              </a:stretch>
            </a:blipFill>
          </p:spPr>
        </p:sp>
      </p:grpSp>
      <p:grpSp>
        <p:nvGrpSpPr>
          <p:cNvPr id="9" name="Group 17"/>
          <p:cNvGrpSpPr/>
          <p:nvPr userDrawn="1"/>
        </p:nvGrpSpPr>
        <p:grpSpPr>
          <a:xfrm>
            <a:off x="153466" y="95752"/>
            <a:ext cx="3014048" cy="1596767"/>
            <a:chOff x="0" y="0"/>
            <a:chExt cx="4786530" cy="2535784"/>
          </a:xfrm>
        </p:grpSpPr>
        <p:sp>
          <p:nvSpPr>
            <p:cNvPr id="10" name="Freeform 18"/>
            <p:cNvSpPr/>
            <p:nvPr/>
          </p:nvSpPr>
          <p:spPr>
            <a:xfrm>
              <a:off x="0" y="0"/>
              <a:ext cx="4786503" cy="2535809"/>
            </a:xfrm>
            <a:custGeom>
              <a:avLst/>
              <a:gdLst/>
              <a:ahLst/>
              <a:cxnLst/>
              <a:rect l="l" t="t" r="r" b="b"/>
              <a:pathLst>
                <a:path w="4786503" h="2535809">
                  <a:moveTo>
                    <a:pt x="0" y="0"/>
                  </a:moveTo>
                  <a:lnTo>
                    <a:pt x="4786503" y="0"/>
                  </a:lnTo>
                  <a:lnTo>
                    <a:pt x="4786503" y="2535809"/>
                  </a:lnTo>
                  <a:lnTo>
                    <a:pt x="0" y="25358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1836" t="-15579" r="-8341" b="-14596"/>
              </a:stretch>
            </a:blipFill>
          </p:spPr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766AE-0019-428E-B939-D20A79559E1F}" type="datetime1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6" name="Group 2"/>
          <p:cNvGrpSpPr/>
          <p:nvPr userDrawn="1"/>
        </p:nvGrpSpPr>
        <p:grpSpPr>
          <a:xfrm>
            <a:off x="0" y="9532143"/>
            <a:ext cx="18288000" cy="754857"/>
            <a:chOff x="0" y="0"/>
            <a:chExt cx="24383998" cy="1006476"/>
          </a:xfrm>
        </p:grpSpPr>
        <p:sp>
          <p:nvSpPr>
            <p:cNvPr id="7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C89116">
                    <a:alpha val="100000"/>
                  </a:srgbClr>
                </a:gs>
              </a:gsLst>
              <a:lin ang="0"/>
            </a:gradFill>
            <a:ln w="12700">
              <a:solidFill>
                <a:srgbClr val="000000"/>
              </a:solidFill>
            </a:ln>
          </p:spPr>
        </p:sp>
      </p:grpSp>
      <p:sp>
        <p:nvSpPr>
          <p:cNvPr id="5" name="Freeform 3"/>
          <p:cNvSpPr/>
          <p:nvPr userDrawn="1"/>
        </p:nvSpPr>
        <p:spPr>
          <a:xfrm>
            <a:off x="0" y="13400"/>
            <a:ext cx="18288000" cy="10260200"/>
          </a:xfrm>
          <a:custGeom>
            <a:avLst/>
            <a:gdLst/>
            <a:ahLst/>
            <a:cxnLst/>
            <a:rect l="l" t="t" r="r" b="b"/>
            <a:pathLst>
              <a:path w="18288000" h="10260200">
                <a:moveTo>
                  <a:pt x="0" y="0"/>
                </a:moveTo>
                <a:lnTo>
                  <a:pt x="18288000" y="0"/>
                </a:lnTo>
                <a:lnTo>
                  <a:pt x="18288000" y="10260200"/>
                </a:lnTo>
                <a:lnTo>
                  <a:pt x="0" y="10260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</a:blip>
            <a:stretch>
              <a:fillRect t="-108093" b="-108781"/>
            </a:stretch>
          </a:blipFill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573420" y="9501218"/>
            <a:ext cx="2286016" cy="785782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8" name="Group 12"/>
          <p:cNvGrpSpPr/>
          <p:nvPr userDrawn="1"/>
        </p:nvGrpSpPr>
        <p:grpSpPr>
          <a:xfrm>
            <a:off x="5915429" y="9657502"/>
            <a:ext cx="7352976" cy="547688"/>
            <a:chOff x="0" y="0"/>
            <a:chExt cx="9803968" cy="730250"/>
          </a:xfrm>
        </p:grpSpPr>
        <p:sp>
          <p:nvSpPr>
            <p:cNvPr id="9" name="Freeform 13"/>
            <p:cNvSpPr/>
            <p:nvPr/>
          </p:nvSpPr>
          <p:spPr>
            <a:xfrm>
              <a:off x="0" y="0"/>
              <a:ext cx="9803967" cy="730250"/>
            </a:xfrm>
            <a:custGeom>
              <a:avLst/>
              <a:gdLst/>
              <a:ahLst/>
              <a:cxnLst/>
              <a:rect l="l" t="t" r="r" b="b"/>
              <a:pathLst>
                <a:path w="9803967" h="730250">
                  <a:moveTo>
                    <a:pt x="0" y="0"/>
                  </a:moveTo>
                  <a:lnTo>
                    <a:pt x="9803967" y="0"/>
                  </a:lnTo>
                  <a:lnTo>
                    <a:pt x="9803967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4"/>
            <p:cNvSpPr txBox="1"/>
            <p:nvPr/>
          </p:nvSpPr>
          <p:spPr>
            <a:xfrm>
              <a:off x="0" y="-19050"/>
              <a:ext cx="9803968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@Nirman_5th Edition Idea submission- Template</a:t>
              </a:r>
            </a:p>
          </p:txBody>
        </p:sp>
      </p:grpSp>
      <p:grpSp>
        <p:nvGrpSpPr>
          <p:cNvPr id="11" name="Group 15"/>
          <p:cNvGrpSpPr/>
          <p:nvPr userDrawn="1"/>
        </p:nvGrpSpPr>
        <p:grpSpPr>
          <a:xfrm>
            <a:off x="15117644" y="26800"/>
            <a:ext cx="3170356" cy="1250482"/>
            <a:chOff x="0" y="0"/>
            <a:chExt cx="3894896" cy="1536262"/>
          </a:xfrm>
        </p:grpSpPr>
        <p:sp>
          <p:nvSpPr>
            <p:cNvPr id="12" name="Freeform 16"/>
            <p:cNvSpPr/>
            <p:nvPr/>
          </p:nvSpPr>
          <p:spPr>
            <a:xfrm>
              <a:off x="0" y="0"/>
              <a:ext cx="3894836" cy="1536319"/>
            </a:xfrm>
            <a:custGeom>
              <a:avLst/>
              <a:gdLst/>
              <a:ahLst/>
              <a:cxnLst/>
              <a:rect l="l" t="t" r="r" b="b"/>
              <a:pathLst>
                <a:path w="3894836" h="1536319">
                  <a:moveTo>
                    <a:pt x="0" y="0"/>
                  </a:moveTo>
                  <a:lnTo>
                    <a:pt x="3894836" y="0"/>
                  </a:lnTo>
                  <a:lnTo>
                    <a:pt x="3894836" y="1536319"/>
                  </a:lnTo>
                  <a:lnTo>
                    <a:pt x="0" y="1536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print"/>
              <a:stretch>
                <a:fillRect r="-1" b="3"/>
              </a:stretch>
            </a:blipFill>
          </p:spPr>
        </p:sp>
      </p:grpSp>
      <p:grpSp>
        <p:nvGrpSpPr>
          <p:cNvPr id="13" name="Group 17"/>
          <p:cNvGrpSpPr/>
          <p:nvPr userDrawn="1"/>
        </p:nvGrpSpPr>
        <p:grpSpPr>
          <a:xfrm>
            <a:off x="153466" y="95752"/>
            <a:ext cx="3014048" cy="1596767"/>
            <a:chOff x="0" y="0"/>
            <a:chExt cx="4786530" cy="2535784"/>
          </a:xfrm>
        </p:grpSpPr>
        <p:sp>
          <p:nvSpPr>
            <p:cNvPr id="14" name="Freeform 18"/>
            <p:cNvSpPr/>
            <p:nvPr/>
          </p:nvSpPr>
          <p:spPr>
            <a:xfrm>
              <a:off x="0" y="0"/>
              <a:ext cx="4786503" cy="2535809"/>
            </a:xfrm>
            <a:custGeom>
              <a:avLst/>
              <a:gdLst/>
              <a:ahLst/>
              <a:cxnLst/>
              <a:rect l="l" t="t" r="r" b="b"/>
              <a:pathLst>
                <a:path w="4786503" h="2535809">
                  <a:moveTo>
                    <a:pt x="0" y="0"/>
                  </a:moveTo>
                  <a:lnTo>
                    <a:pt x="4786503" y="0"/>
                  </a:lnTo>
                  <a:lnTo>
                    <a:pt x="4786503" y="2535809"/>
                  </a:lnTo>
                  <a:lnTo>
                    <a:pt x="0" y="25358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1836" t="-15579" r="-8341" b="-14596"/>
              </a:stretch>
            </a:blipFill>
          </p:spPr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0B8F5-D6C1-4909-804E-1AE9EF558F02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 3"/>
          <p:cNvSpPr/>
          <p:nvPr userDrawn="1"/>
        </p:nvSpPr>
        <p:spPr>
          <a:xfrm>
            <a:off x="0" y="13400"/>
            <a:ext cx="18288000" cy="10260200"/>
          </a:xfrm>
          <a:custGeom>
            <a:avLst/>
            <a:gdLst/>
            <a:ahLst/>
            <a:cxnLst/>
            <a:rect l="l" t="t" r="r" b="b"/>
            <a:pathLst>
              <a:path w="18288000" h="10260200">
                <a:moveTo>
                  <a:pt x="0" y="0"/>
                </a:moveTo>
                <a:lnTo>
                  <a:pt x="18288000" y="0"/>
                </a:lnTo>
                <a:lnTo>
                  <a:pt x="18288000" y="10260200"/>
                </a:lnTo>
                <a:lnTo>
                  <a:pt x="0" y="10260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</a:blip>
            <a:stretch>
              <a:fillRect t="-108093" b="-108781"/>
            </a:stretch>
          </a:blipFill>
        </p:spPr>
      </p:sp>
      <p:grpSp>
        <p:nvGrpSpPr>
          <p:cNvPr id="9" name="Group 2"/>
          <p:cNvGrpSpPr/>
          <p:nvPr userDrawn="1"/>
        </p:nvGrpSpPr>
        <p:grpSpPr>
          <a:xfrm>
            <a:off x="0" y="9532143"/>
            <a:ext cx="18287998" cy="754857"/>
            <a:chOff x="0" y="0"/>
            <a:chExt cx="24383998" cy="1006476"/>
          </a:xfrm>
        </p:grpSpPr>
        <p:sp>
          <p:nvSpPr>
            <p:cNvPr id="10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C89116">
                    <a:alpha val="100000"/>
                  </a:srgbClr>
                </a:gs>
              </a:gsLst>
              <a:lin ang="0"/>
            </a:gradFill>
            <a:ln w="12700">
              <a:solidFill>
                <a:srgbClr val="000000"/>
              </a:solidFill>
            </a:ln>
          </p:spPr>
        </p:sp>
      </p:grpSp>
      <p:grpSp>
        <p:nvGrpSpPr>
          <p:cNvPr id="11" name="Group 12"/>
          <p:cNvGrpSpPr/>
          <p:nvPr userDrawn="1"/>
        </p:nvGrpSpPr>
        <p:grpSpPr>
          <a:xfrm>
            <a:off x="5915429" y="9657502"/>
            <a:ext cx="7352976" cy="547688"/>
            <a:chOff x="0" y="0"/>
            <a:chExt cx="9803968" cy="730250"/>
          </a:xfrm>
        </p:grpSpPr>
        <p:sp>
          <p:nvSpPr>
            <p:cNvPr id="12" name="Freeform 13"/>
            <p:cNvSpPr/>
            <p:nvPr/>
          </p:nvSpPr>
          <p:spPr>
            <a:xfrm>
              <a:off x="0" y="0"/>
              <a:ext cx="9803967" cy="730250"/>
            </a:xfrm>
            <a:custGeom>
              <a:avLst/>
              <a:gdLst/>
              <a:ahLst/>
              <a:cxnLst/>
              <a:rect l="l" t="t" r="r" b="b"/>
              <a:pathLst>
                <a:path w="9803967" h="730250">
                  <a:moveTo>
                    <a:pt x="0" y="0"/>
                  </a:moveTo>
                  <a:lnTo>
                    <a:pt x="9803967" y="0"/>
                  </a:lnTo>
                  <a:lnTo>
                    <a:pt x="9803967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4"/>
            <p:cNvSpPr txBox="1"/>
            <p:nvPr/>
          </p:nvSpPr>
          <p:spPr>
            <a:xfrm>
              <a:off x="0" y="-19050"/>
              <a:ext cx="9803968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@Nirman_5th Edition Idea submission- Template</a:t>
              </a:r>
            </a:p>
          </p:txBody>
        </p:sp>
      </p:grpSp>
      <p:grpSp>
        <p:nvGrpSpPr>
          <p:cNvPr id="14" name="Group 15"/>
          <p:cNvGrpSpPr/>
          <p:nvPr userDrawn="1"/>
        </p:nvGrpSpPr>
        <p:grpSpPr>
          <a:xfrm>
            <a:off x="15117644" y="26800"/>
            <a:ext cx="3170356" cy="1250482"/>
            <a:chOff x="0" y="0"/>
            <a:chExt cx="3894896" cy="1536262"/>
          </a:xfrm>
        </p:grpSpPr>
        <p:sp>
          <p:nvSpPr>
            <p:cNvPr id="15" name="Freeform 16"/>
            <p:cNvSpPr/>
            <p:nvPr/>
          </p:nvSpPr>
          <p:spPr>
            <a:xfrm>
              <a:off x="0" y="0"/>
              <a:ext cx="3894836" cy="1536319"/>
            </a:xfrm>
            <a:custGeom>
              <a:avLst/>
              <a:gdLst/>
              <a:ahLst/>
              <a:cxnLst/>
              <a:rect l="l" t="t" r="r" b="b"/>
              <a:pathLst>
                <a:path w="3894836" h="1536319">
                  <a:moveTo>
                    <a:pt x="0" y="0"/>
                  </a:moveTo>
                  <a:lnTo>
                    <a:pt x="3894836" y="0"/>
                  </a:lnTo>
                  <a:lnTo>
                    <a:pt x="3894836" y="1536319"/>
                  </a:lnTo>
                  <a:lnTo>
                    <a:pt x="0" y="1536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print"/>
              <a:stretch>
                <a:fillRect r="-1" b="3"/>
              </a:stretch>
            </a:blipFill>
          </p:spPr>
        </p:sp>
      </p:grpSp>
      <p:grpSp>
        <p:nvGrpSpPr>
          <p:cNvPr id="16" name="Group 17"/>
          <p:cNvGrpSpPr/>
          <p:nvPr userDrawn="1"/>
        </p:nvGrpSpPr>
        <p:grpSpPr>
          <a:xfrm>
            <a:off x="153466" y="95752"/>
            <a:ext cx="3014048" cy="1596767"/>
            <a:chOff x="0" y="0"/>
            <a:chExt cx="4786530" cy="2535784"/>
          </a:xfrm>
        </p:grpSpPr>
        <p:sp>
          <p:nvSpPr>
            <p:cNvPr id="17" name="Freeform 18"/>
            <p:cNvSpPr/>
            <p:nvPr/>
          </p:nvSpPr>
          <p:spPr>
            <a:xfrm>
              <a:off x="0" y="0"/>
              <a:ext cx="4786503" cy="2535809"/>
            </a:xfrm>
            <a:custGeom>
              <a:avLst/>
              <a:gdLst/>
              <a:ahLst/>
              <a:cxnLst/>
              <a:rect l="l" t="t" r="r" b="b"/>
              <a:pathLst>
                <a:path w="4786503" h="2535809">
                  <a:moveTo>
                    <a:pt x="0" y="0"/>
                  </a:moveTo>
                  <a:lnTo>
                    <a:pt x="4786503" y="0"/>
                  </a:lnTo>
                  <a:lnTo>
                    <a:pt x="4786503" y="2535809"/>
                  </a:lnTo>
                  <a:lnTo>
                    <a:pt x="0" y="25358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1836" t="-15579" r="-8341" b="-14596"/>
              </a:stretch>
            </a:blipFill>
          </p:spPr>
        </p:sp>
      </p:grpSp>
      <p:sp>
        <p:nvSpPr>
          <p:cNvPr id="18" name="Slide Number Placeholder 3"/>
          <p:cNvSpPr txBox="1">
            <a:spLocks/>
          </p:cNvSpPr>
          <p:nvPr userDrawn="1"/>
        </p:nvSpPr>
        <p:spPr>
          <a:xfrm>
            <a:off x="15573420" y="9501218"/>
            <a:ext cx="2286016" cy="7857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6D00B-D523-4B6A-BD76-FEF3AD235368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 3"/>
          <p:cNvSpPr/>
          <p:nvPr userDrawn="1"/>
        </p:nvSpPr>
        <p:spPr>
          <a:xfrm>
            <a:off x="0" y="13400"/>
            <a:ext cx="18288000" cy="10260200"/>
          </a:xfrm>
          <a:custGeom>
            <a:avLst/>
            <a:gdLst/>
            <a:ahLst/>
            <a:cxnLst/>
            <a:rect l="l" t="t" r="r" b="b"/>
            <a:pathLst>
              <a:path w="18288000" h="10260200">
                <a:moveTo>
                  <a:pt x="0" y="0"/>
                </a:moveTo>
                <a:lnTo>
                  <a:pt x="18288000" y="0"/>
                </a:lnTo>
                <a:lnTo>
                  <a:pt x="18288000" y="10260200"/>
                </a:lnTo>
                <a:lnTo>
                  <a:pt x="0" y="10260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</a:blip>
            <a:stretch>
              <a:fillRect t="-108093" b="-108781"/>
            </a:stretch>
          </a:blipFill>
        </p:spPr>
      </p:sp>
      <p:grpSp>
        <p:nvGrpSpPr>
          <p:cNvPr id="9" name="Group 2"/>
          <p:cNvGrpSpPr/>
          <p:nvPr userDrawn="1"/>
        </p:nvGrpSpPr>
        <p:grpSpPr>
          <a:xfrm>
            <a:off x="0" y="9532143"/>
            <a:ext cx="18287998" cy="754857"/>
            <a:chOff x="0" y="0"/>
            <a:chExt cx="24383998" cy="1006476"/>
          </a:xfrm>
        </p:grpSpPr>
        <p:sp>
          <p:nvSpPr>
            <p:cNvPr id="10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C89116">
                    <a:alpha val="100000"/>
                  </a:srgbClr>
                </a:gs>
              </a:gsLst>
              <a:lin ang="0"/>
            </a:gradFill>
            <a:ln w="12700">
              <a:solidFill>
                <a:srgbClr val="000000"/>
              </a:solidFill>
            </a:ln>
          </p:spPr>
        </p:sp>
      </p:grpSp>
      <p:grpSp>
        <p:nvGrpSpPr>
          <p:cNvPr id="11" name="Group 12"/>
          <p:cNvGrpSpPr/>
          <p:nvPr userDrawn="1"/>
        </p:nvGrpSpPr>
        <p:grpSpPr>
          <a:xfrm>
            <a:off x="5915429" y="9657502"/>
            <a:ext cx="7352976" cy="547688"/>
            <a:chOff x="0" y="0"/>
            <a:chExt cx="9803968" cy="730250"/>
          </a:xfrm>
        </p:grpSpPr>
        <p:sp>
          <p:nvSpPr>
            <p:cNvPr id="12" name="Freeform 13"/>
            <p:cNvSpPr/>
            <p:nvPr/>
          </p:nvSpPr>
          <p:spPr>
            <a:xfrm>
              <a:off x="0" y="0"/>
              <a:ext cx="9803967" cy="730250"/>
            </a:xfrm>
            <a:custGeom>
              <a:avLst/>
              <a:gdLst/>
              <a:ahLst/>
              <a:cxnLst/>
              <a:rect l="l" t="t" r="r" b="b"/>
              <a:pathLst>
                <a:path w="9803967" h="730250">
                  <a:moveTo>
                    <a:pt x="0" y="0"/>
                  </a:moveTo>
                  <a:lnTo>
                    <a:pt x="9803967" y="0"/>
                  </a:lnTo>
                  <a:lnTo>
                    <a:pt x="9803967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4"/>
            <p:cNvSpPr txBox="1"/>
            <p:nvPr/>
          </p:nvSpPr>
          <p:spPr>
            <a:xfrm>
              <a:off x="0" y="-19050"/>
              <a:ext cx="9803968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@Nirman_5th Edition Idea submission- Template</a:t>
              </a:r>
            </a:p>
          </p:txBody>
        </p:sp>
      </p:grpSp>
      <p:grpSp>
        <p:nvGrpSpPr>
          <p:cNvPr id="14" name="Group 15"/>
          <p:cNvGrpSpPr/>
          <p:nvPr userDrawn="1"/>
        </p:nvGrpSpPr>
        <p:grpSpPr>
          <a:xfrm>
            <a:off x="15117644" y="26800"/>
            <a:ext cx="3170356" cy="1250482"/>
            <a:chOff x="0" y="0"/>
            <a:chExt cx="3894896" cy="1536262"/>
          </a:xfrm>
        </p:grpSpPr>
        <p:sp>
          <p:nvSpPr>
            <p:cNvPr id="15" name="Freeform 16"/>
            <p:cNvSpPr/>
            <p:nvPr/>
          </p:nvSpPr>
          <p:spPr>
            <a:xfrm>
              <a:off x="0" y="0"/>
              <a:ext cx="3894836" cy="1536319"/>
            </a:xfrm>
            <a:custGeom>
              <a:avLst/>
              <a:gdLst/>
              <a:ahLst/>
              <a:cxnLst/>
              <a:rect l="l" t="t" r="r" b="b"/>
              <a:pathLst>
                <a:path w="3894836" h="1536319">
                  <a:moveTo>
                    <a:pt x="0" y="0"/>
                  </a:moveTo>
                  <a:lnTo>
                    <a:pt x="3894836" y="0"/>
                  </a:lnTo>
                  <a:lnTo>
                    <a:pt x="3894836" y="1536319"/>
                  </a:lnTo>
                  <a:lnTo>
                    <a:pt x="0" y="1536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print"/>
              <a:stretch>
                <a:fillRect r="-1" b="3"/>
              </a:stretch>
            </a:blipFill>
          </p:spPr>
        </p:sp>
      </p:grpSp>
      <p:grpSp>
        <p:nvGrpSpPr>
          <p:cNvPr id="16" name="Group 17"/>
          <p:cNvGrpSpPr/>
          <p:nvPr userDrawn="1"/>
        </p:nvGrpSpPr>
        <p:grpSpPr>
          <a:xfrm>
            <a:off x="153466" y="95752"/>
            <a:ext cx="3014048" cy="1596767"/>
            <a:chOff x="0" y="0"/>
            <a:chExt cx="4786530" cy="2535784"/>
          </a:xfrm>
        </p:grpSpPr>
        <p:sp>
          <p:nvSpPr>
            <p:cNvPr id="17" name="Freeform 18"/>
            <p:cNvSpPr/>
            <p:nvPr/>
          </p:nvSpPr>
          <p:spPr>
            <a:xfrm>
              <a:off x="0" y="0"/>
              <a:ext cx="4786503" cy="2535809"/>
            </a:xfrm>
            <a:custGeom>
              <a:avLst/>
              <a:gdLst/>
              <a:ahLst/>
              <a:cxnLst/>
              <a:rect l="l" t="t" r="r" b="b"/>
              <a:pathLst>
                <a:path w="4786503" h="2535809">
                  <a:moveTo>
                    <a:pt x="0" y="0"/>
                  </a:moveTo>
                  <a:lnTo>
                    <a:pt x="4786503" y="0"/>
                  </a:lnTo>
                  <a:lnTo>
                    <a:pt x="4786503" y="2535809"/>
                  </a:lnTo>
                  <a:lnTo>
                    <a:pt x="0" y="25358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1836" t="-15579" r="-8341" b="-14596"/>
              </a:stretch>
            </a:blipFill>
          </p:spPr>
        </p:sp>
      </p:grpSp>
      <p:sp>
        <p:nvSpPr>
          <p:cNvPr id="18" name="Slide Number Placeholder 3"/>
          <p:cNvSpPr txBox="1">
            <a:spLocks/>
          </p:cNvSpPr>
          <p:nvPr userDrawn="1"/>
        </p:nvSpPr>
        <p:spPr>
          <a:xfrm>
            <a:off x="15573420" y="9501218"/>
            <a:ext cx="2286016" cy="7857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F1B85-23C7-4C76-9F6C-8529DF8E97E3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3"/>
          <p:cNvSpPr/>
          <p:nvPr userDrawn="1"/>
        </p:nvSpPr>
        <p:spPr>
          <a:xfrm>
            <a:off x="0" y="13400"/>
            <a:ext cx="18288000" cy="10260200"/>
          </a:xfrm>
          <a:custGeom>
            <a:avLst/>
            <a:gdLst/>
            <a:ahLst/>
            <a:cxnLst/>
            <a:rect l="l" t="t" r="r" b="b"/>
            <a:pathLst>
              <a:path w="18288000" h="10260200">
                <a:moveTo>
                  <a:pt x="0" y="0"/>
                </a:moveTo>
                <a:lnTo>
                  <a:pt x="18288000" y="0"/>
                </a:lnTo>
                <a:lnTo>
                  <a:pt x="18288000" y="10260200"/>
                </a:lnTo>
                <a:lnTo>
                  <a:pt x="0" y="10260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</a:blip>
            <a:stretch>
              <a:fillRect t="-108093" b="-108781"/>
            </a:stretch>
          </a:blipFill>
        </p:spPr>
      </p:sp>
      <p:grpSp>
        <p:nvGrpSpPr>
          <p:cNvPr id="8" name="Group 2"/>
          <p:cNvGrpSpPr/>
          <p:nvPr userDrawn="1"/>
        </p:nvGrpSpPr>
        <p:grpSpPr>
          <a:xfrm>
            <a:off x="0" y="9532143"/>
            <a:ext cx="18287998" cy="754857"/>
            <a:chOff x="0" y="0"/>
            <a:chExt cx="24383998" cy="1006476"/>
          </a:xfrm>
        </p:grpSpPr>
        <p:sp>
          <p:nvSpPr>
            <p:cNvPr id="9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C89116">
                    <a:alpha val="100000"/>
                  </a:srgbClr>
                </a:gs>
              </a:gsLst>
              <a:lin ang="0"/>
            </a:gradFill>
            <a:ln w="12700">
              <a:solidFill>
                <a:srgbClr val="000000"/>
              </a:solidFill>
            </a:ln>
          </p:spPr>
        </p:sp>
      </p:grpSp>
      <p:grpSp>
        <p:nvGrpSpPr>
          <p:cNvPr id="10" name="Group 12"/>
          <p:cNvGrpSpPr/>
          <p:nvPr userDrawn="1"/>
        </p:nvGrpSpPr>
        <p:grpSpPr>
          <a:xfrm>
            <a:off x="5915429" y="9657502"/>
            <a:ext cx="7352976" cy="547688"/>
            <a:chOff x="0" y="0"/>
            <a:chExt cx="9803968" cy="730250"/>
          </a:xfrm>
        </p:grpSpPr>
        <p:sp>
          <p:nvSpPr>
            <p:cNvPr id="11" name="Freeform 13"/>
            <p:cNvSpPr/>
            <p:nvPr/>
          </p:nvSpPr>
          <p:spPr>
            <a:xfrm>
              <a:off x="0" y="0"/>
              <a:ext cx="9803967" cy="730250"/>
            </a:xfrm>
            <a:custGeom>
              <a:avLst/>
              <a:gdLst/>
              <a:ahLst/>
              <a:cxnLst/>
              <a:rect l="l" t="t" r="r" b="b"/>
              <a:pathLst>
                <a:path w="9803967" h="730250">
                  <a:moveTo>
                    <a:pt x="0" y="0"/>
                  </a:moveTo>
                  <a:lnTo>
                    <a:pt x="9803967" y="0"/>
                  </a:lnTo>
                  <a:lnTo>
                    <a:pt x="9803967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4"/>
            <p:cNvSpPr txBox="1"/>
            <p:nvPr/>
          </p:nvSpPr>
          <p:spPr>
            <a:xfrm>
              <a:off x="0" y="-19050"/>
              <a:ext cx="9803968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@Nirman_5th Edition Idea submission- Template</a:t>
              </a:r>
            </a:p>
          </p:txBody>
        </p:sp>
      </p:grpSp>
      <p:grpSp>
        <p:nvGrpSpPr>
          <p:cNvPr id="13" name="Group 15"/>
          <p:cNvGrpSpPr/>
          <p:nvPr userDrawn="1"/>
        </p:nvGrpSpPr>
        <p:grpSpPr>
          <a:xfrm>
            <a:off x="15117644" y="26800"/>
            <a:ext cx="3170356" cy="1250482"/>
            <a:chOff x="0" y="0"/>
            <a:chExt cx="3894896" cy="1536262"/>
          </a:xfrm>
        </p:grpSpPr>
        <p:sp>
          <p:nvSpPr>
            <p:cNvPr id="14" name="Freeform 16"/>
            <p:cNvSpPr/>
            <p:nvPr/>
          </p:nvSpPr>
          <p:spPr>
            <a:xfrm>
              <a:off x="0" y="0"/>
              <a:ext cx="3894836" cy="1536319"/>
            </a:xfrm>
            <a:custGeom>
              <a:avLst/>
              <a:gdLst/>
              <a:ahLst/>
              <a:cxnLst/>
              <a:rect l="l" t="t" r="r" b="b"/>
              <a:pathLst>
                <a:path w="3894836" h="1536319">
                  <a:moveTo>
                    <a:pt x="0" y="0"/>
                  </a:moveTo>
                  <a:lnTo>
                    <a:pt x="3894836" y="0"/>
                  </a:lnTo>
                  <a:lnTo>
                    <a:pt x="3894836" y="1536319"/>
                  </a:lnTo>
                  <a:lnTo>
                    <a:pt x="0" y="1536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print"/>
              <a:stretch>
                <a:fillRect r="-1" b="3"/>
              </a:stretch>
            </a:blipFill>
          </p:spPr>
        </p:sp>
      </p:grpSp>
      <p:grpSp>
        <p:nvGrpSpPr>
          <p:cNvPr id="15" name="Group 17"/>
          <p:cNvGrpSpPr/>
          <p:nvPr userDrawn="1"/>
        </p:nvGrpSpPr>
        <p:grpSpPr>
          <a:xfrm>
            <a:off x="153466" y="95752"/>
            <a:ext cx="3014048" cy="1596767"/>
            <a:chOff x="0" y="0"/>
            <a:chExt cx="4786530" cy="2535784"/>
          </a:xfrm>
        </p:grpSpPr>
        <p:sp>
          <p:nvSpPr>
            <p:cNvPr id="16" name="Freeform 18"/>
            <p:cNvSpPr/>
            <p:nvPr/>
          </p:nvSpPr>
          <p:spPr>
            <a:xfrm>
              <a:off x="0" y="0"/>
              <a:ext cx="4786503" cy="2535809"/>
            </a:xfrm>
            <a:custGeom>
              <a:avLst/>
              <a:gdLst/>
              <a:ahLst/>
              <a:cxnLst/>
              <a:rect l="l" t="t" r="r" b="b"/>
              <a:pathLst>
                <a:path w="4786503" h="2535809">
                  <a:moveTo>
                    <a:pt x="0" y="0"/>
                  </a:moveTo>
                  <a:lnTo>
                    <a:pt x="4786503" y="0"/>
                  </a:lnTo>
                  <a:lnTo>
                    <a:pt x="4786503" y="2535809"/>
                  </a:lnTo>
                  <a:lnTo>
                    <a:pt x="0" y="25358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1836" t="-15579" r="-8341" b="-14596"/>
              </a:stretch>
            </a:blipFill>
          </p:spPr>
        </p:sp>
      </p:grpSp>
      <p:sp>
        <p:nvSpPr>
          <p:cNvPr id="17" name="Slide Number Placeholder 3"/>
          <p:cNvSpPr txBox="1">
            <a:spLocks/>
          </p:cNvSpPr>
          <p:nvPr userDrawn="1"/>
        </p:nvSpPr>
        <p:spPr>
          <a:xfrm>
            <a:off x="15573420" y="9501218"/>
            <a:ext cx="2286016" cy="7857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CB92-374D-4B65-8C8E-850A97188594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3"/>
          <p:cNvSpPr/>
          <p:nvPr userDrawn="1"/>
        </p:nvSpPr>
        <p:spPr>
          <a:xfrm>
            <a:off x="0" y="13400"/>
            <a:ext cx="18288000" cy="10260200"/>
          </a:xfrm>
          <a:custGeom>
            <a:avLst/>
            <a:gdLst/>
            <a:ahLst/>
            <a:cxnLst/>
            <a:rect l="l" t="t" r="r" b="b"/>
            <a:pathLst>
              <a:path w="18288000" h="10260200">
                <a:moveTo>
                  <a:pt x="0" y="0"/>
                </a:moveTo>
                <a:lnTo>
                  <a:pt x="18288000" y="0"/>
                </a:lnTo>
                <a:lnTo>
                  <a:pt x="18288000" y="10260200"/>
                </a:lnTo>
                <a:lnTo>
                  <a:pt x="0" y="10260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6000"/>
            </a:blip>
            <a:stretch>
              <a:fillRect t="-108093" b="-108781"/>
            </a:stretch>
          </a:blipFill>
        </p:spPr>
      </p:sp>
      <p:grpSp>
        <p:nvGrpSpPr>
          <p:cNvPr id="8" name="Group 2"/>
          <p:cNvGrpSpPr/>
          <p:nvPr userDrawn="1"/>
        </p:nvGrpSpPr>
        <p:grpSpPr>
          <a:xfrm>
            <a:off x="0" y="9532143"/>
            <a:ext cx="18287998" cy="754857"/>
            <a:chOff x="0" y="0"/>
            <a:chExt cx="24383998" cy="1006476"/>
          </a:xfrm>
        </p:grpSpPr>
        <p:sp>
          <p:nvSpPr>
            <p:cNvPr id="9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C89116">
                    <a:alpha val="100000"/>
                  </a:srgbClr>
                </a:gs>
              </a:gsLst>
              <a:lin ang="0"/>
            </a:gradFill>
            <a:ln w="12700">
              <a:solidFill>
                <a:srgbClr val="000000"/>
              </a:solidFill>
            </a:ln>
          </p:spPr>
        </p:sp>
      </p:grpSp>
      <p:grpSp>
        <p:nvGrpSpPr>
          <p:cNvPr id="10" name="Group 12"/>
          <p:cNvGrpSpPr/>
          <p:nvPr userDrawn="1"/>
        </p:nvGrpSpPr>
        <p:grpSpPr>
          <a:xfrm>
            <a:off x="5915429" y="9657502"/>
            <a:ext cx="7352976" cy="547688"/>
            <a:chOff x="0" y="0"/>
            <a:chExt cx="9803968" cy="730250"/>
          </a:xfrm>
        </p:grpSpPr>
        <p:sp>
          <p:nvSpPr>
            <p:cNvPr id="11" name="Freeform 13"/>
            <p:cNvSpPr/>
            <p:nvPr/>
          </p:nvSpPr>
          <p:spPr>
            <a:xfrm>
              <a:off x="0" y="0"/>
              <a:ext cx="9803967" cy="730250"/>
            </a:xfrm>
            <a:custGeom>
              <a:avLst/>
              <a:gdLst/>
              <a:ahLst/>
              <a:cxnLst/>
              <a:rect l="l" t="t" r="r" b="b"/>
              <a:pathLst>
                <a:path w="9803967" h="730250">
                  <a:moveTo>
                    <a:pt x="0" y="0"/>
                  </a:moveTo>
                  <a:lnTo>
                    <a:pt x="9803967" y="0"/>
                  </a:lnTo>
                  <a:lnTo>
                    <a:pt x="9803967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2" name="TextBox 14"/>
            <p:cNvSpPr txBox="1"/>
            <p:nvPr/>
          </p:nvSpPr>
          <p:spPr>
            <a:xfrm>
              <a:off x="0" y="-19050"/>
              <a:ext cx="9803968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@Nirman_5th Edition Idea submission- Template</a:t>
              </a:r>
            </a:p>
          </p:txBody>
        </p:sp>
      </p:grpSp>
      <p:grpSp>
        <p:nvGrpSpPr>
          <p:cNvPr id="13" name="Group 15"/>
          <p:cNvGrpSpPr/>
          <p:nvPr userDrawn="1"/>
        </p:nvGrpSpPr>
        <p:grpSpPr>
          <a:xfrm>
            <a:off x="15117644" y="26800"/>
            <a:ext cx="3170356" cy="1250482"/>
            <a:chOff x="0" y="0"/>
            <a:chExt cx="3894896" cy="1536262"/>
          </a:xfrm>
        </p:grpSpPr>
        <p:sp>
          <p:nvSpPr>
            <p:cNvPr id="14" name="Freeform 16"/>
            <p:cNvSpPr/>
            <p:nvPr/>
          </p:nvSpPr>
          <p:spPr>
            <a:xfrm>
              <a:off x="0" y="0"/>
              <a:ext cx="3894836" cy="1536319"/>
            </a:xfrm>
            <a:custGeom>
              <a:avLst/>
              <a:gdLst/>
              <a:ahLst/>
              <a:cxnLst/>
              <a:rect l="l" t="t" r="r" b="b"/>
              <a:pathLst>
                <a:path w="3894836" h="1536319">
                  <a:moveTo>
                    <a:pt x="0" y="0"/>
                  </a:moveTo>
                  <a:lnTo>
                    <a:pt x="3894836" y="0"/>
                  </a:lnTo>
                  <a:lnTo>
                    <a:pt x="3894836" y="1536319"/>
                  </a:lnTo>
                  <a:lnTo>
                    <a:pt x="0" y="1536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print"/>
              <a:stretch>
                <a:fillRect r="-1" b="3"/>
              </a:stretch>
            </a:blipFill>
          </p:spPr>
        </p:sp>
      </p:grpSp>
      <p:grpSp>
        <p:nvGrpSpPr>
          <p:cNvPr id="15" name="Group 17"/>
          <p:cNvGrpSpPr/>
          <p:nvPr userDrawn="1"/>
        </p:nvGrpSpPr>
        <p:grpSpPr>
          <a:xfrm>
            <a:off x="153466" y="95752"/>
            <a:ext cx="3014048" cy="1596767"/>
            <a:chOff x="0" y="0"/>
            <a:chExt cx="4786530" cy="2535784"/>
          </a:xfrm>
        </p:grpSpPr>
        <p:sp>
          <p:nvSpPr>
            <p:cNvPr id="16" name="Freeform 18"/>
            <p:cNvSpPr/>
            <p:nvPr/>
          </p:nvSpPr>
          <p:spPr>
            <a:xfrm>
              <a:off x="0" y="0"/>
              <a:ext cx="4786503" cy="2535809"/>
            </a:xfrm>
            <a:custGeom>
              <a:avLst/>
              <a:gdLst/>
              <a:ahLst/>
              <a:cxnLst/>
              <a:rect l="l" t="t" r="r" b="b"/>
              <a:pathLst>
                <a:path w="4786503" h="2535809">
                  <a:moveTo>
                    <a:pt x="0" y="0"/>
                  </a:moveTo>
                  <a:lnTo>
                    <a:pt x="4786503" y="0"/>
                  </a:lnTo>
                  <a:lnTo>
                    <a:pt x="4786503" y="2535809"/>
                  </a:lnTo>
                  <a:lnTo>
                    <a:pt x="0" y="25358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1836" t="-15579" r="-8341" b="-14596"/>
              </a:stretch>
            </a:blipFill>
          </p:spPr>
        </p:sp>
      </p:grpSp>
      <p:sp>
        <p:nvSpPr>
          <p:cNvPr id="17" name="Slide Number Placeholder 3"/>
          <p:cNvSpPr txBox="1">
            <a:spLocks/>
          </p:cNvSpPr>
          <p:nvPr userDrawn="1"/>
        </p:nvSpPr>
        <p:spPr>
          <a:xfrm>
            <a:off x="15573420" y="9501218"/>
            <a:ext cx="2286016" cy="7857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2E742-6B8B-40EC-85EF-8E190BD27418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7850079" TargetMode="External"/><Relationship Id="rId2" Type="http://schemas.openxmlformats.org/officeDocument/2006/relationships/hyperlink" Target="https://thesai.org/Downloads/Volume11No1/Paper_19-Malicious_URL_Detection_based_on_Machine_Learning.pdf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8485170" y="1277282"/>
            <a:ext cx="6957907" cy="7732451"/>
          </a:xfrm>
          <a:custGeom>
            <a:avLst/>
            <a:gdLst/>
            <a:ahLst/>
            <a:cxnLst/>
            <a:rect l="l" t="t" r="r" b="b"/>
            <a:pathLst>
              <a:path w="6957907" h="7732451">
                <a:moveTo>
                  <a:pt x="0" y="0"/>
                </a:moveTo>
                <a:lnTo>
                  <a:pt x="6957907" y="0"/>
                </a:lnTo>
                <a:lnTo>
                  <a:pt x="6957907" y="7732450"/>
                </a:lnTo>
                <a:lnTo>
                  <a:pt x="0" y="77324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234307" y="1636395"/>
            <a:ext cx="3819386" cy="149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endParaRPr/>
          </a:p>
          <a:p>
            <a:pPr algn="ctr">
              <a:lnSpc>
                <a:spcPts val="5759"/>
              </a:lnSpc>
            </a:pPr>
            <a:r>
              <a:rPr lang="en-US" sz="4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TITLE PAGE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529464" y="894135"/>
            <a:ext cx="11229072" cy="1579770"/>
            <a:chOff x="0" y="0"/>
            <a:chExt cx="14972096" cy="210635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972095" cy="2106359"/>
            </a:xfrm>
            <a:custGeom>
              <a:avLst/>
              <a:gdLst/>
              <a:ahLst/>
              <a:cxnLst/>
              <a:rect l="l" t="t" r="r" b="b"/>
              <a:pathLst>
                <a:path w="14972095" h="2106359">
                  <a:moveTo>
                    <a:pt x="0" y="0"/>
                  </a:moveTo>
                  <a:lnTo>
                    <a:pt x="14972095" y="0"/>
                  </a:lnTo>
                  <a:lnTo>
                    <a:pt x="14972095" y="2106359"/>
                  </a:lnTo>
                  <a:lnTo>
                    <a:pt x="0" y="210635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14972096" cy="21730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Hack&lt;/&gt;Nation- Hackathon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88369" y="2712720"/>
            <a:ext cx="8703945" cy="6471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40"/>
              </a:lnSpc>
            </a:pPr>
            <a:endParaRPr dirty="0"/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4400" dirty="0">
                <a:solidFill>
                  <a:srgbClr val="000000"/>
                </a:solidFill>
                <a:latin typeface="Berlin Sans FB" panose="020E0602020502020306" pitchFamily="34" charset="0"/>
                <a:ea typeface="PMingLiU-ExtB" panose="02020500000000000000" pitchFamily="18" charset="-120"/>
                <a:cs typeface="Poppins"/>
                <a:sym typeface="Poppins"/>
              </a:rPr>
              <a:t>Theme</a:t>
            </a:r>
            <a:r>
              <a:rPr lang="en-US" sz="4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lang="en-IN" sz="4400" dirty="0"/>
              <a:t>Cybersecurity</a:t>
            </a:r>
            <a:endParaRPr lang="en-US" sz="44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4400" dirty="0">
                <a:solidFill>
                  <a:srgbClr val="000000"/>
                </a:solidFill>
                <a:latin typeface="Berlin Sans FB" panose="020E0602020502020306" pitchFamily="34" charset="0"/>
                <a:ea typeface="Poppins"/>
                <a:cs typeface="Poppins"/>
                <a:sym typeface="Poppins"/>
              </a:rPr>
              <a:t>PS Category</a:t>
            </a:r>
            <a:r>
              <a:rPr lang="en-US" sz="4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Software</a:t>
            </a:r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4400" dirty="0">
                <a:solidFill>
                  <a:srgbClr val="000000"/>
                </a:solidFill>
                <a:latin typeface="Berlin Sans FB" panose="020E0602020502020306" pitchFamily="34" charset="0"/>
                <a:ea typeface="Poppins"/>
                <a:cs typeface="Poppins"/>
                <a:sym typeface="Poppins"/>
              </a:rPr>
              <a:t>Team Name</a:t>
            </a:r>
            <a:r>
              <a:rPr lang="en-US" sz="4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lang="en-US" sz="44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TechSphere</a:t>
            </a:r>
            <a:endParaRPr lang="en-US" sz="44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51053" lvl="1" indent="-325526" algn="just">
              <a:lnSpc>
                <a:spcPts val="8640"/>
              </a:lnSpc>
              <a:buFont typeface="Arial"/>
              <a:buChar char="•"/>
            </a:pPr>
            <a:r>
              <a:rPr lang="en-US" sz="4400" dirty="0">
                <a:solidFill>
                  <a:srgbClr val="000000"/>
                </a:solidFill>
                <a:latin typeface="Berlin Sans FB" panose="020E0602020502020306" pitchFamily="34" charset="0"/>
                <a:ea typeface="Poppins"/>
                <a:cs typeface="Poppins"/>
                <a:sym typeface="Poppins"/>
              </a:rPr>
              <a:t>Team Leader</a:t>
            </a:r>
            <a:r>
              <a:rPr lang="en-US" sz="4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Sasmita Behera</a:t>
            </a:r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4400" dirty="0">
                <a:solidFill>
                  <a:srgbClr val="000000"/>
                </a:solidFill>
                <a:latin typeface="Berlin Sans FB" panose="020E0602020502020306" pitchFamily="34" charset="0"/>
                <a:ea typeface="Poppins"/>
                <a:cs typeface="Poppins"/>
                <a:sym typeface="Poppins"/>
              </a:rPr>
              <a:t>Institute</a:t>
            </a:r>
            <a:r>
              <a:rPr lang="en-US" sz="44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ITER, SOA</a:t>
            </a:r>
            <a:r>
              <a:rPr lang="en-US" sz="36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905180" y="0"/>
            <a:ext cx="4477641" cy="2160880"/>
            <a:chOff x="0" y="0"/>
            <a:chExt cx="5970188" cy="288117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70188" cy="2881173"/>
            </a:xfrm>
            <a:custGeom>
              <a:avLst/>
              <a:gdLst/>
              <a:ahLst/>
              <a:cxnLst/>
              <a:rect l="l" t="t" r="r" b="b"/>
              <a:pathLst>
                <a:path w="5970188" h="2881173">
                  <a:moveTo>
                    <a:pt x="0" y="0"/>
                  </a:moveTo>
                  <a:lnTo>
                    <a:pt x="5970188" y="0"/>
                  </a:lnTo>
                  <a:lnTo>
                    <a:pt x="5970188" y="2881173"/>
                  </a:lnTo>
                  <a:lnTo>
                    <a:pt x="0" y="28811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5970188" cy="29383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endParaRPr/>
            </a:p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IDEA TITLE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62442" y="3095477"/>
            <a:ext cx="16854566" cy="7873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4340" lvl="1">
              <a:lnSpc>
                <a:spcPts val="5759"/>
              </a:lnSpc>
            </a:pPr>
            <a:r>
              <a:rPr lang="en-US" sz="4800" b="1" dirty="0"/>
              <a:t>PROBLEM STATEMENT</a:t>
            </a:r>
          </a:p>
          <a:p>
            <a:pPr marL="868680" lvl="1" indent="-434340">
              <a:lnSpc>
                <a:spcPts val="5759"/>
              </a:lnSpc>
              <a:buFont typeface="Arial"/>
              <a:buChar char="•"/>
            </a:pPr>
            <a:r>
              <a:rPr lang="en-US" sz="4800" dirty="0"/>
              <a:t>Phishing websites are increasing rapidly and look almost identical to real ones.</a:t>
            </a:r>
          </a:p>
          <a:p>
            <a:pPr marL="868680" lvl="1" indent="-434340">
              <a:lnSpc>
                <a:spcPts val="5759"/>
              </a:lnSpc>
              <a:buFont typeface="Arial"/>
              <a:buChar char="•"/>
            </a:pPr>
            <a:r>
              <a:rPr lang="en-US" sz="4800" dirty="0"/>
              <a:t>Users can’t reliably detect new or zero-day malicious sites.</a:t>
            </a:r>
          </a:p>
          <a:p>
            <a:pPr marL="868680" lvl="1" indent="-434340">
              <a:lnSpc>
                <a:spcPts val="5759"/>
              </a:lnSpc>
              <a:buFont typeface="Arial"/>
              <a:buChar char="•"/>
            </a:pPr>
            <a:r>
              <a:rPr lang="en-US" sz="4800" dirty="0"/>
              <a:t>Current browser protections miss freshly-created fake domains.</a:t>
            </a:r>
          </a:p>
          <a:p>
            <a:pPr marL="868680" lvl="1" indent="-434340">
              <a:lnSpc>
                <a:spcPts val="5759"/>
              </a:lnSpc>
              <a:buFont typeface="Arial"/>
              <a:buChar char="•"/>
            </a:pPr>
            <a:r>
              <a:rPr lang="en-US" sz="4800" dirty="0"/>
              <a:t>One wrong click = stolen credentials, malware, financial loss.</a:t>
            </a:r>
          </a:p>
          <a:p>
            <a:pPr marL="868680" lvl="1" indent="-434340">
              <a:lnSpc>
                <a:spcPts val="5759"/>
              </a:lnSpc>
              <a:buFont typeface="Arial"/>
              <a:buChar char="•"/>
            </a:pPr>
            <a:r>
              <a:rPr lang="en-US" sz="4800" dirty="0"/>
              <a:t>Need: a </a:t>
            </a:r>
            <a:r>
              <a:rPr lang="en-US" sz="4800" b="1" dirty="0"/>
              <a:t>real-time</a:t>
            </a:r>
            <a:r>
              <a:rPr lang="en-US" sz="4800" dirty="0"/>
              <a:t>, </a:t>
            </a:r>
            <a:r>
              <a:rPr lang="en-US" sz="4800" b="1" dirty="0"/>
              <a:t>lightweight</a:t>
            </a:r>
            <a:r>
              <a:rPr lang="en-US" sz="4800" dirty="0"/>
              <a:t>, </a:t>
            </a:r>
            <a:r>
              <a:rPr lang="en-US" sz="4800" b="1" dirty="0"/>
              <a:t>browser-level</a:t>
            </a:r>
            <a:r>
              <a:rPr lang="en-US" sz="4800" dirty="0"/>
              <a:t> threat detector.</a:t>
            </a:r>
          </a:p>
          <a:p>
            <a:pPr marL="868680" lvl="1" indent="-434340">
              <a:lnSpc>
                <a:spcPts val="5759"/>
              </a:lnSpc>
              <a:buFont typeface="Arial"/>
              <a:buChar char="•"/>
            </a:pPr>
            <a:endParaRPr lang="en-US" sz="48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60095" lvl="1" indent="-380048" algn="l">
              <a:lnSpc>
                <a:spcPts val="5040"/>
              </a:lnSpc>
            </a:pPr>
            <a:endParaRPr lang="en-IN" dirty="0"/>
          </a:p>
          <a:p>
            <a:pPr marL="760095" lvl="1" indent="-380048" algn="l">
              <a:lnSpc>
                <a:spcPts val="5040"/>
              </a:lnSpc>
            </a:pPr>
            <a:endParaRPr dirty="0"/>
          </a:p>
          <a:p>
            <a:pPr algn="just">
              <a:lnSpc>
                <a:spcPts val="5040"/>
              </a:lnSpc>
            </a:pPr>
            <a:r>
              <a:rPr lang="en-US" sz="4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354293" y="1"/>
            <a:ext cx="3579415" cy="1903140"/>
            <a:chOff x="0" y="0"/>
            <a:chExt cx="4772553" cy="288117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772553" cy="2881173"/>
            </a:xfrm>
            <a:custGeom>
              <a:avLst/>
              <a:gdLst/>
              <a:ahLst/>
              <a:cxnLst/>
              <a:rect l="l" t="t" r="r" b="b"/>
              <a:pathLst>
                <a:path w="4772553" h="2881173">
                  <a:moveTo>
                    <a:pt x="0" y="0"/>
                  </a:moveTo>
                  <a:lnTo>
                    <a:pt x="4772553" y="0"/>
                  </a:lnTo>
                  <a:lnTo>
                    <a:pt x="4772553" y="2881173"/>
                  </a:lnTo>
                  <a:lnTo>
                    <a:pt x="0" y="28811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772553" cy="29383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endParaRPr/>
            </a:p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Solutions 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35088" y="1759124"/>
            <a:ext cx="15798609" cy="74079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4340" lvl="1">
              <a:lnSpc>
                <a:spcPts val="5759"/>
              </a:lnSpc>
            </a:pPr>
            <a:r>
              <a:rPr lang="en-US" sz="4400" dirty="0"/>
              <a:t>• We created a lightweight Chrome extension that checks any website’s safety in one click.</a:t>
            </a:r>
          </a:p>
          <a:p>
            <a:pPr marL="434340" lvl="1">
              <a:lnSpc>
                <a:spcPts val="5759"/>
              </a:lnSpc>
            </a:pPr>
            <a:r>
              <a:rPr lang="en-US" sz="4400" dirty="0"/>
              <a:t>• A trained machine-learning model analyzes URL patterns and instantly predicts whether the site is SAFE or UNSAFE.</a:t>
            </a:r>
          </a:p>
          <a:p>
            <a:pPr marL="434340" lvl="1">
              <a:lnSpc>
                <a:spcPts val="5759"/>
              </a:lnSpc>
            </a:pPr>
            <a:r>
              <a:rPr lang="en-US" sz="4400" dirty="0"/>
              <a:t>The backend and extension work together by extracting key URL features and passing them to our trained ML model.</a:t>
            </a:r>
            <a:br>
              <a:rPr lang="en-US" sz="4400" dirty="0"/>
            </a:br>
            <a:r>
              <a:rPr lang="en-US" sz="4400" dirty="0"/>
              <a:t>• The model compares the URL’s features against learned patterns of phishing and safe sites.</a:t>
            </a:r>
            <a:br>
              <a:rPr lang="en-US" sz="4400" dirty="0"/>
            </a:br>
            <a:r>
              <a:rPr lang="en-US" sz="4400" dirty="0"/>
              <a:t>• This allows fast, real-time malicious URL detection without needing to scan page content.</a:t>
            </a:r>
            <a:endParaRPr lang="en-US" sz="44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831912" y="534988"/>
            <a:ext cx="8624176" cy="2909526"/>
            <a:chOff x="0" y="-1593368"/>
            <a:chExt cx="11498902" cy="38793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98902" cy="2286000"/>
            </a:xfrm>
            <a:custGeom>
              <a:avLst/>
              <a:gdLst/>
              <a:ahLst/>
              <a:cxnLst/>
              <a:rect l="l" t="t" r="r" b="b"/>
              <a:pathLst>
                <a:path w="11498902" h="2286000">
                  <a:moveTo>
                    <a:pt x="0" y="0"/>
                  </a:moveTo>
                  <a:lnTo>
                    <a:pt x="11498902" y="0"/>
                  </a:lnTo>
                  <a:lnTo>
                    <a:pt x="11498902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593368"/>
              <a:ext cx="10838017" cy="15933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4400" b="1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TECHNICAL APPROACH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75048" y="1615108"/>
            <a:ext cx="17284388" cy="89519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0047" lvl="1">
              <a:lnSpc>
                <a:spcPts val="5040"/>
              </a:lnSpc>
            </a:pPr>
            <a:r>
              <a:rPr lang="en-IN" sz="4000" b="1" dirty="0"/>
              <a:t>Technologies Used: </a:t>
            </a:r>
          </a:p>
          <a:p>
            <a:pPr marL="380047" lvl="1">
              <a:lnSpc>
                <a:spcPts val="5040"/>
              </a:lnSpc>
            </a:pPr>
            <a:r>
              <a:rPr lang="en-IN" sz="4000" dirty="0"/>
              <a:t>HTML, CSS, Python, </a:t>
            </a:r>
            <a:r>
              <a:rPr lang="en-IN" sz="4000" dirty="0" err="1"/>
              <a:t>Javascript</a:t>
            </a:r>
            <a:r>
              <a:rPr lang="en-IN" sz="4000" dirty="0"/>
              <a:t>, </a:t>
            </a:r>
            <a:r>
              <a:rPr lang="en-IN" sz="4000" dirty="0" err="1"/>
              <a:t>Php</a:t>
            </a:r>
            <a:r>
              <a:rPr lang="en-IN" sz="4000" dirty="0"/>
              <a:t>, Beautiful Soup, </a:t>
            </a:r>
            <a:r>
              <a:rPr lang="en-IN" sz="4000" dirty="0" err="1"/>
              <a:t>whois</a:t>
            </a:r>
            <a:r>
              <a:rPr lang="en-IN" sz="4000" dirty="0"/>
              <a:t>, Scikit-learn, Random Forest(ML Algorithm).</a:t>
            </a:r>
          </a:p>
          <a:p>
            <a:pPr marL="380047" lvl="1">
              <a:lnSpc>
                <a:spcPts val="5040"/>
              </a:lnSpc>
            </a:pPr>
            <a:r>
              <a:rPr lang="en-IN" sz="4000" dirty="0"/>
              <a:t>Dataset- </a:t>
            </a:r>
            <a:r>
              <a:rPr lang="en-IN" sz="4000" dirty="0" err="1"/>
              <a:t>Phising</a:t>
            </a:r>
            <a:r>
              <a:rPr lang="en-IN" sz="4000" dirty="0"/>
              <a:t> Websites Dataset- UCI ML Repository</a:t>
            </a:r>
          </a:p>
          <a:p>
            <a:pPr marL="380047" lvl="1">
              <a:lnSpc>
                <a:spcPts val="5040"/>
              </a:lnSpc>
            </a:pPr>
            <a:r>
              <a:rPr lang="en-IN" sz="4000" b="1" dirty="0"/>
              <a:t>Methodologies:</a:t>
            </a:r>
          </a:p>
          <a:p>
            <a:pPr marL="380047" lvl="1">
              <a:lnSpc>
                <a:spcPts val="5040"/>
              </a:lnSpc>
            </a:pPr>
            <a:r>
              <a:rPr lang="en-IN" sz="4000" dirty="0"/>
              <a:t>Data Collection - Collected phishing &amp; legitimate URLs from open datasets.</a:t>
            </a:r>
          </a:p>
          <a:p>
            <a:pPr marL="380047" lvl="1">
              <a:lnSpc>
                <a:spcPts val="5040"/>
              </a:lnSpc>
            </a:pPr>
            <a:r>
              <a:rPr lang="en-IN" sz="4000" dirty="0"/>
              <a:t>Feature Extraction - Extracted URL-based features (length, HTTPS, special characters, keywords).</a:t>
            </a:r>
          </a:p>
          <a:p>
            <a:pPr marL="380047" lvl="1">
              <a:lnSpc>
                <a:spcPts val="5040"/>
              </a:lnSpc>
            </a:pPr>
            <a:r>
              <a:rPr lang="en-IN" sz="4000" dirty="0"/>
              <a:t>Model Training- Trained ML model using Scikit-Learn (Random Forest/Logistic Regression).Achieved ~95% accuracy. </a:t>
            </a:r>
          </a:p>
          <a:p>
            <a:pPr marL="380047" lvl="1">
              <a:lnSpc>
                <a:spcPts val="5040"/>
              </a:lnSpc>
            </a:pPr>
            <a:r>
              <a:rPr lang="en-IN" sz="4000" dirty="0"/>
              <a:t>Chrome Extension - Extension captures current URL &amp; sends it to API.</a:t>
            </a:r>
          </a:p>
          <a:p>
            <a:pPr marL="380047" lvl="1">
              <a:lnSpc>
                <a:spcPts val="5040"/>
              </a:lnSpc>
            </a:pPr>
            <a:r>
              <a:rPr lang="en-IN" sz="4000" dirty="0"/>
              <a:t>Displays SAFE / UNSAFE result instantly.</a:t>
            </a:r>
          </a:p>
          <a:p>
            <a:pPr marL="380047" lvl="1">
              <a:lnSpc>
                <a:spcPts val="5040"/>
              </a:lnSpc>
            </a:pPr>
            <a:endParaRPr lang="en-IN" sz="4000" dirty="0"/>
          </a:p>
          <a:p>
            <a:pPr marL="380047" lvl="1">
              <a:lnSpc>
                <a:spcPts val="5040"/>
              </a:lnSpc>
            </a:pPr>
            <a:endParaRPr lang="en-IN" sz="4000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397972" y="-545132"/>
            <a:ext cx="9492057" cy="3744415"/>
            <a:chOff x="0" y="-2612563"/>
            <a:chExt cx="12656075" cy="48985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656075" cy="2286000"/>
            </a:xfrm>
            <a:custGeom>
              <a:avLst/>
              <a:gdLst/>
              <a:ahLst/>
              <a:cxnLst/>
              <a:rect l="l" t="t" r="r" b="b"/>
              <a:pathLst>
                <a:path w="12656075" h="2286000">
                  <a:moveTo>
                    <a:pt x="0" y="0"/>
                  </a:moveTo>
                  <a:lnTo>
                    <a:pt x="12656075" y="0"/>
                  </a:lnTo>
                  <a:lnTo>
                    <a:pt x="12656075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612563"/>
              <a:ext cx="12656074" cy="48985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endParaRPr lang="en-US" sz="54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07096" y="1903140"/>
            <a:ext cx="13903339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endParaRPr lang="en-IN" sz="3600" b="1" dirty="0"/>
          </a:p>
          <a:p>
            <a:endParaRPr lang="en-IN" sz="3600" b="1" dirty="0"/>
          </a:p>
          <a:p>
            <a:endParaRPr lang="en-IN" sz="3600" b="1" dirty="0"/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Picture 6" descr="A computer screen with a message&#10;&#10;AI-generated content may be incorrect.">
            <a:extLst>
              <a:ext uri="{FF2B5EF4-FFF2-40B4-BE49-F238E27FC236}">
                <a16:creationId xmlns:a16="http://schemas.microsoft.com/office/drawing/2014/main" id="{43CA922E-3E60-B2B7-E874-054793420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7565" y="1214721"/>
            <a:ext cx="11184771" cy="71691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874471-921A-DD97-23F3-F0CCDD7F1D9B}"/>
              </a:ext>
            </a:extLst>
          </p:cNvPr>
          <p:cNvSpPr txBox="1"/>
          <p:nvPr/>
        </p:nvSpPr>
        <p:spPr>
          <a:xfrm>
            <a:off x="6407696" y="8671892"/>
            <a:ext cx="4752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/>
              <a:t>            FLOWCHART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028700" y="1720228"/>
            <a:ext cx="16230600" cy="1714500"/>
            <a:chOff x="0" y="0"/>
            <a:chExt cx="21640800" cy="228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640800" cy="2286000"/>
            </a:xfrm>
            <a:custGeom>
              <a:avLst/>
              <a:gdLst/>
              <a:ahLst/>
              <a:cxnLst/>
              <a:rect l="l" t="t" r="r" b="b"/>
              <a:pathLst>
                <a:path w="21640800" h="2286000">
                  <a:moveTo>
                    <a:pt x="0" y="0"/>
                  </a:moveTo>
                  <a:lnTo>
                    <a:pt x="21640800" y="0"/>
                  </a:lnTo>
                  <a:lnTo>
                    <a:pt x="216408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1640800" cy="23431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endParaRPr lang="en-US" sz="54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sp>
        <p:nvSpPr>
          <p:cNvPr id="26" name="Slide Number Placeholder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FCE9AF-A7A8-78E7-BD20-4813727F8470}"/>
              </a:ext>
            </a:extLst>
          </p:cNvPr>
          <p:cNvSpPr txBox="1"/>
          <p:nvPr/>
        </p:nvSpPr>
        <p:spPr>
          <a:xfrm>
            <a:off x="3527376" y="534988"/>
            <a:ext cx="111612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FEASIBILITY AND VIABILITY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85AF2D-5E57-6603-113F-64940D7AED01}"/>
              </a:ext>
            </a:extLst>
          </p:cNvPr>
          <p:cNvSpPr txBox="1"/>
          <p:nvPr/>
        </p:nvSpPr>
        <p:spPr>
          <a:xfrm>
            <a:off x="1499752" y="1349712"/>
            <a:ext cx="14062268" cy="8402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Feasible because:</a:t>
            </a:r>
            <a:endParaRPr lang="en-IN" sz="3600" dirty="0"/>
          </a:p>
          <a:p>
            <a:r>
              <a:rPr lang="en-IN" sz="3600" dirty="0"/>
              <a:t>Lightweight extension</a:t>
            </a:r>
          </a:p>
          <a:p>
            <a:r>
              <a:rPr lang="en-IN" sz="3600" dirty="0"/>
              <a:t>Freely available APIs</a:t>
            </a:r>
          </a:p>
          <a:p>
            <a:r>
              <a:rPr lang="en-IN" sz="3600" dirty="0"/>
              <a:t>Small ML model, easy to deploy</a:t>
            </a:r>
          </a:p>
          <a:p>
            <a:r>
              <a:rPr lang="en-IN" sz="3600" b="1" dirty="0"/>
              <a:t>Challenges:</a:t>
            </a:r>
            <a:endParaRPr lang="en-IN" sz="3600" dirty="0"/>
          </a:p>
          <a:p>
            <a:r>
              <a:rPr lang="en-IN" sz="3600" dirty="0"/>
              <a:t>API rate limits</a:t>
            </a:r>
          </a:p>
          <a:p>
            <a:r>
              <a:rPr lang="en-IN" sz="3600" dirty="0"/>
              <a:t>ML model accuracy on new unseen phishing URLs</a:t>
            </a:r>
          </a:p>
          <a:p>
            <a:r>
              <a:rPr lang="en-IN" sz="3600" dirty="0"/>
              <a:t>Zero-day domains may bypass detection</a:t>
            </a:r>
          </a:p>
          <a:p>
            <a:r>
              <a:rPr lang="en-IN" sz="3600" dirty="0"/>
              <a:t>Speed vs security trade-off</a:t>
            </a:r>
          </a:p>
          <a:p>
            <a:r>
              <a:rPr lang="en-IN" sz="3600" b="1" dirty="0"/>
              <a:t>Strategies:</a:t>
            </a:r>
          </a:p>
          <a:p>
            <a:r>
              <a:rPr lang="en-US" sz="3600" dirty="0"/>
              <a:t>We kept everything simple and fast—an ML model that works in real time with a clean, one-click extension.</a:t>
            </a:r>
          </a:p>
          <a:p>
            <a:r>
              <a:rPr lang="en-US" sz="3600" dirty="0"/>
              <a:t>Our focus was to make phishing detection easy for anyone to use, even during a quick demo.</a:t>
            </a:r>
            <a:endParaRPr lang="en-IN" sz="3600" dirty="0"/>
          </a:p>
          <a:p>
            <a:endParaRPr lang="en-IN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914400" y="1457924"/>
            <a:ext cx="16459200" cy="1714500"/>
            <a:chOff x="0" y="0"/>
            <a:chExt cx="21945600" cy="228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1945600" cy="23431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endParaRPr lang="en-US" sz="54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sp>
        <p:nvSpPr>
          <p:cNvPr id="26" name="Slide Number Placeholder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912BD9-F63B-F976-6CF5-7C57CDC29F5C}"/>
              </a:ext>
            </a:extLst>
          </p:cNvPr>
          <p:cNvSpPr txBox="1"/>
          <p:nvPr/>
        </p:nvSpPr>
        <p:spPr>
          <a:xfrm>
            <a:off x="4103440" y="967036"/>
            <a:ext cx="1022513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IMPACT AND BENEFITS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A425A7-EA9B-3B84-8DCB-7B24E71AF052}"/>
              </a:ext>
            </a:extLst>
          </p:cNvPr>
          <p:cNvSpPr txBox="1"/>
          <p:nvPr/>
        </p:nvSpPr>
        <p:spPr>
          <a:xfrm>
            <a:off x="1223120" y="1903140"/>
            <a:ext cx="1404156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Impact:</a:t>
            </a:r>
            <a:endParaRPr lang="en-US" sz="3600" dirty="0"/>
          </a:p>
          <a:p>
            <a:r>
              <a:rPr lang="en-US" sz="3600" dirty="0"/>
              <a:t>Protects users from phishing + malware</a:t>
            </a:r>
          </a:p>
          <a:p>
            <a:r>
              <a:rPr lang="en-US" sz="3600" dirty="0"/>
              <a:t>Reduces identity theft and data loss</a:t>
            </a:r>
          </a:p>
          <a:p>
            <a:r>
              <a:rPr lang="en-US" sz="3600" dirty="0"/>
              <a:t>Useful for students, employees, general users</a:t>
            </a:r>
          </a:p>
          <a:p>
            <a:r>
              <a:rPr lang="en-US" sz="3600" dirty="0"/>
              <a:t>Enterprise adoption for monitoring</a:t>
            </a:r>
          </a:p>
          <a:p>
            <a:endParaRPr lang="en-US" sz="3600" dirty="0"/>
          </a:p>
          <a:p>
            <a:r>
              <a:rPr lang="en-US" sz="3600" b="1" dirty="0"/>
              <a:t>Benefits:</a:t>
            </a:r>
            <a:endParaRPr lang="en-US" sz="3600" dirty="0"/>
          </a:p>
          <a:p>
            <a:r>
              <a:rPr lang="en-US" sz="3600" dirty="0"/>
              <a:t>Social: Safer browsing</a:t>
            </a:r>
          </a:p>
          <a:p>
            <a:r>
              <a:rPr lang="en-US" sz="3600" dirty="0"/>
              <a:t>Economic: Prevents financial scams</a:t>
            </a:r>
          </a:p>
          <a:p>
            <a:r>
              <a:rPr lang="en-US" sz="3600" dirty="0"/>
              <a:t>Educational: Awareness of cyber threats</a:t>
            </a:r>
          </a:p>
          <a:p>
            <a:r>
              <a:rPr lang="en-US" sz="3600" dirty="0"/>
              <a:t>Organizational: Secure browsing environment</a:t>
            </a:r>
          </a:p>
          <a:p>
            <a:endParaRPr lang="en-IN" sz="3600" dirty="0"/>
          </a:p>
          <a:p>
            <a:endParaRPr lang="en-IN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E97787-4ED2-BEFD-09AC-9A93DEE6E33C}"/>
              </a:ext>
            </a:extLst>
          </p:cNvPr>
          <p:cNvSpPr txBox="1"/>
          <p:nvPr/>
        </p:nvSpPr>
        <p:spPr>
          <a:xfrm>
            <a:off x="4247456" y="895028"/>
            <a:ext cx="101531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RESEARCH  AND REFERENCES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6A1904-4A43-09F4-F317-35D44B4545C0}"/>
              </a:ext>
            </a:extLst>
          </p:cNvPr>
          <p:cNvSpPr txBox="1"/>
          <p:nvPr/>
        </p:nvSpPr>
        <p:spPr>
          <a:xfrm rot="10800000" flipV="1">
            <a:off x="503040" y="1794256"/>
            <a:ext cx="17356396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The following resources were used to design, train, and validate our malicious-URL detection system. These references include datasets for model training, API documentation for threat verification, and research papers that guided our feature-engineering and ML approach.</a:t>
            </a:r>
          </a:p>
          <a:p>
            <a:endParaRPr lang="en-US" sz="4000" dirty="0">
              <a:hlinkClick r:id="rId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/>
              <a:t>Phishing Websites Dataset – UCI Machine Learning Repository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 err="1"/>
              <a:t>PhishTank</a:t>
            </a:r>
            <a:r>
              <a:rPr lang="en-US" sz="4000" dirty="0"/>
              <a:t> Community Feed (for malicious URL samples)</a:t>
            </a:r>
            <a:endParaRPr lang="en-US" sz="4000" dirty="0">
              <a:hlinkClick r:id="rId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hlinkClick r:id="rId2"/>
              </a:rPr>
              <a:t>Malicious URL Detection based on Machine Learning</a:t>
            </a:r>
            <a:endParaRPr lang="en-US" sz="4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hlinkClick r:id="rId3"/>
              </a:rPr>
              <a:t>Detecting malicious URLs using machine learning techniques | IEEE Conference Publication | IEEE Xplore</a:t>
            </a:r>
            <a:endParaRPr lang="en-US" sz="4000" dirty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518</Words>
  <Application>Microsoft Office PowerPoint</Application>
  <PresentationFormat>Custom</PresentationFormat>
  <Paragraphs>80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Berlin Sans FB</vt:lpstr>
      <vt:lpstr>Poppins Bold</vt:lpstr>
      <vt:lpstr>Poppins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@Nirman_5th Edition Idea submission- Template</dc:title>
  <dc:creator>priti</dc:creator>
  <cp:lastModifiedBy>pritiprachurya17@gmail.com</cp:lastModifiedBy>
  <cp:revision>8</cp:revision>
  <dcterms:created xsi:type="dcterms:W3CDTF">2006-08-16T00:00:00Z</dcterms:created>
  <dcterms:modified xsi:type="dcterms:W3CDTF">2025-11-30T02:48:50Z</dcterms:modified>
  <dc:identifier>DAG6GWxR8yI</dc:identifier>
</cp:coreProperties>
</file>